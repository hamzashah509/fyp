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sldIdLst>
    <p:sldId id="262" r:id="rId2"/>
    <p:sldId id="261" r:id="rId3"/>
    <p:sldId id="265" r:id="rId4"/>
    <p:sldId id="266" r:id="rId5"/>
    <p:sldId id="267" r:id="rId6"/>
    <p:sldId id="268" r:id="rId7"/>
    <p:sldId id="275" r:id="rId8"/>
    <p:sldId id="269" r:id="rId9"/>
    <p:sldId id="270" r:id="rId10"/>
    <p:sldId id="279" r:id="rId11"/>
    <p:sldId id="280" r:id="rId12"/>
    <p:sldId id="271" r:id="rId13"/>
    <p:sldId id="278" r:id="rId14"/>
    <p:sldId id="272" r:id="rId15"/>
    <p:sldId id="277" r:id="rId16"/>
    <p:sldId id="273" r:id="rId17"/>
    <p:sldId id="274" r:id="rId18"/>
    <p:sldId id="28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E8E8E8"/>
    <a:srgbClr val="D0CECE"/>
    <a:srgbClr val="CE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1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0842F-0BE7-4515-9E27-5C3EF0A21E83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ACF60-2CFA-43BC-ABF3-C9ED196B2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55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17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448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54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6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2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354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5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44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97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226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415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D635-92DB-432F-BECF-F13502546CAB}" type="datetimeFigureOut">
              <a:rPr lang="en-US" smtClean="0"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8AC7-6B3D-43A4-B09B-25AEA58A5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6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content/pdf/10.1155/S1110865704310085.pdf" TargetMode="External"/><Relationship Id="rId3" Type="http://schemas.microsoft.com/office/2007/relationships/hdphoto" Target="../media/hdphoto1.wdp"/><Relationship Id="rId7" Type="http://schemas.openxmlformats.org/officeDocument/2006/relationships/hyperlink" Target="https://ieeexplore.ieee.org/abstract/document/9182516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ciencedirect.com/science/article/pii/S235197892031893X" TargetMode="External"/><Relationship Id="rId5" Type="http://schemas.openxmlformats.org/officeDocument/2006/relationships/hyperlink" Target="https://dl.acm.org/doi/10.1007/s13748-020-00217-z" TargetMode="Externa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4FBD97-4AF2-9E85-B0CA-93674B1D23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0311"/>
            <a:ext cx="12191999" cy="69934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C2186B-E8A5-F846-4A7A-A0CFF10391F5}"/>
              </a:ext>
            </a:extLst>
          </p:cNvPr>
          <p:cNvSpPr txBox="1"/>
          <p:nvPr/>
        </p:nvSpPr>
        <p:spPr>
          <a:xfrm>
            <a:off x="453727" y="220934"/>
            <a:ext cx="6841067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latin typeface="Barlow" panose="00000500000000000000" pitchFamily="2" charset="0"/>
              </a:rPr>
              <a:t>Senior Year Design Project 2022 - Progress Presentation</a:t>
            </a:r>
          </a:p>
          <a:p>
            <a:endParaRPr lang="en-US" sz="6600" b="1" dirty="0">
              <a:latin typeface="Barlow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2DE53-B9EC-D3FC-E570-D3524389B151}"/>
              </a:ext>
            </a:extLst>
          </p:cNvPr>
          <p:cNvSpPr txBox="1"/>
          <p:nvPr/>
        </p:nvSpPr>
        <p:spPr>
          <a:xfrm>
            <a:off x="550985" y="5514691"/>
            <a:ext cx="26228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Barlow" panose="00000500000000000000" pitchFamily="2" charset="0"/>
              </a:rPr>
              <a:t>Advisor : Dr. Ahmad Abbas</a:t>
            </a:r>
          </a:p>
          <a:p>
            <a:r>
              <a:rPr lang="en-US" sz="1600" b="1" dirty="0">
                <a:latin typeface="Barlow" panose="00000500000000000000" pitchFamily="2" charset="0"/>
              </a:rPr>
              <a:t>Co-Advisor : Dr. Asif Khan</a:t>
            </a:r>
          </a:p>
        </p:txBody>
      </p:sp>
    </p:spTree>
    <p:extLst>
      <p:ext uri="{BB962C8B-B14F-4D97-AF65-F5344CB8AC3E}">
        <p14:creationId xmlns:p14="http://schemas.microsoft.com/office/powerpoint/2010/main" val="365435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29CBC6E-03CB-C114-D70A-4DCFD3F31F25}"/>
              </a:ext>
            </a:extLst>
          </p:cNvPr>
          <p:cNvSpPr/>
          <p:nvPr/>
        </p:nvSpPr>
        <p:spPr>
          <a:xfrm>
            <a:off x="1074746" y="4676610"/>
            <a:ext cx="2447777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cap="all" dirty="0">
                <a:solidFill>
                  <a:schemeClr val="tx2"/>
                </a:solidFill>
              </a:rPr>
              <a:t>Shayan Malik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673E1A-0B5C-06B0-9B7B-36F4A8A75994}"/>
              </a:ext>
            </a:extLst>
          </p:cNvPr>
          <p:cNvSpPr/>
          <p:nvPr/>
        </p:nvSpPr>
        <p:spPr>
          <a:xfrm>
            <a:off x="4872112" y="4676610"/>
            <a:ext cx="2447777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cap="all" dirty="0">
                <a:solidFill>
                  <a:schemeClr val="tx2"/>
                </a:solidFill>
              </a:rPr>
              <a:t>Sulaiman Tayyab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1A0AF9A-3F60-CA6C-B1DD-4994A0601589}"/>
              </a:ext>
            </a:extLst>
          </p:cNvPr>
          <p:cNvSpPr/>
          <p:nvPr/>
        </p:nvSpPr>
        <p:spPr>
          <a:xfrm>
            <a:off x="8669478" y="4675203"/>
            <a:ext cx="2447777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b="1" cap="all" dirty="0">
                <a:solidFill>
                  <a:schemeClr val="tx2"/>
                </a:solidFill>
              </a:rPr>
              <a:t>Muhammad Umar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F59E82F-43F3-1CBD-7BC9-2057A3A190DC}"/>
              </a:ext>
            </a:extLst>
          </p:cNvPr>
          <p:cNvSpPr/>
          <p:nvPr/>
        </p:nvSpPr>
        <p:spPr>
          <a:xfrm>
            <a:off x="1074746" y="5049403"/>
            <a:ext cx="2447777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cap="all" dirty="0">
                <a:solidFill>
                  <a:schemeClr val="tx2"/>
                </a:solidFill>
              </a:rPr>
              <a:t>2019371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3A5B467-4DB3-55EA-50C6-8F5B0BB0DCDC}"/>
              </a:ext>
            </a:extLst>
          </p:cNvPr>
          <p:cNvSpPr/>
          <p:nvPr/>
        </p:nvSpPr>
        <p:spPr>
          <a:xfrm>
            <a:off x="4857831" y="5049403"/>
            <a:ext cx="2447777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cap="all" dirty="0">
                <a:solidFill>
                  <a:schemeClr val="tx2"/>
                </a:solidFill>
              </a:rPr>
              <a:t>2019502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930DCE6-2687-3C8F-04FB-92E480FE1BDA}"/>
              </a:ext>
            </a:extLst>
          </p:cNvPr>
          <p:cNvSpPr/>
          <p:nvPr/>
        </p:nvSpPr>
        <p:spPr>
          <a:xfrm>
            <a:off x="8512525" y="5040963"/>
            <a:ext cx="2447777" cy="3657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cap="all" dirty="0">
                <a:solidFill>
                  <a:schemeClr val="tx2"/>
                </a:solidFill>
              </a:rPr>
              <a:t>2019388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6" name="Title 75">
            <a:extLst>
              <a:ext uri="{FF2B5EF4-FFF2-40B4-BE49-F238E27FC236}">
                <a16:creationId xmlns:a16="http://schemas.microsoft.com/office/drawing/2014/main" id="{4CB66456-37FA-C3F2-D794-DF1758AA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920" y="-243867"/>
            <a:ext cx="10515600" cy="1325563"/>
          </a:xfrm>
        </p:spPr>
        <p:txBody>
          <a:bodyPr/>
          <a:lstStyle/>
          <a:p>
            <a:r>
              <a:rPr lang="en-US" b="1" dirty="0">
                <a:latin typeface="Barlow" panose="00000500000000000000" pitchFamily="2" charset="0"/>
              </a:rPr>
              <a:t>Group Members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B3134F2-C570-4521-7211-13EE320FB9F3}"/>
              </a:ext>
            </a:extLst>
          </p:cNvPr>
          <p:cNvSpPr txBox="1"/>
          <p:nvPr/>
        </p:nvSpPr>
        <p:spPr>
          <a:xfrm>
            <a:off x="5636882" y="950223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Barlow" panose="00000500000000000000" pitchFamily="2" charset="0"/>
              </a:rPr>
              <a:t>Group 11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91DD07E0-4105-C4B0-B934-EA9B25961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47535">
            <a:off x="4872966" y="1939773"/>
            <a:ext cx="2446923" cy="2366638"/>
          </a:xfrm>
          <a:prstGeom prst="flowChartConnector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DF83E6F5-EB1E-9E42-F566-AF1E47028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9002" y="1939773"/>
            <a:ext cx="2431300" cy="2366638"/>
          </a:xfrm>
          <a:prstGeom prst="flowChartConnector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0D174CF6-A963-8571-2454-6BA4662AF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747" y="1900446"/>
            <a:ext cx="2447777" cy="2405965"/>
          </a:xfrm>
          <a:prstGeom prst="flowChartConnector">
            <a:avLst/>
          </a:prstGeom>
        </p:spPr>
      </p:pic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9DE84B-CF3D-F629-2878-FB3F7F5E74C9}"/>
              </a:ext>
            </a:extLst>
          </p:cNvPr>
          <p:cNvSpPr txBox="1"/>
          <p:nvPr/>
        </p:nvSpPr>
        <p:spPr>
          <a:xfrm>
            <a:off x="852480" y="62647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03525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4990DD-C683-5B1B-206D-5105800F2927}"/>
              </a:ext>
            </a:extLst>
          </p:cNvPr>
          <p:cNvSpPr txBox="1"/>
          <p:nvPr/>
        </p:nvSpPr>
        <p:spPr>
          <a:xfrm>
            <a:off x="1325217" y="477078"/>
            <a:ext cx="584420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Barlow" panose="00000500000000000000" pitchFamily="2" charset="0"/>
              </a:rPr>
              <a:t>DESIGN AND FABRICATION OF</a:t>
            </a:r>
          </a:p>
          <a:p>
            <a:r>
              <a:rPr lang="en-US" sz="4800" b="1" dirty="0">
                <a:latin typeface="Barlow" panose="00000500000000000000" pitchFamily="2" charset="0"/>
              </a:rPr>
              <a:t>(AI BASED)</a:t>
            </a:r>
            <a:r>
              <a:rPr lang="en-US" sz="4800" b="1" dirty="0">
                <a:solidFill>
                  <a:srgbClr val="002060"/>
                </a:solidFill>
                <a:latin typeface="Barlow" panose="00000500000000000000" pitchFamily="2" charset="0"/>
              </a:rPr>
              <a:t> TEST BED FOR HEALTH ASSESSMENT </a:t>
            </a:r>
            <a:r>
              <a:rPr lang="en-US" sz="4800" b="1" dirty="0">
                <a:latin typeface="Barlow" panose="00000500000000000000" pitchFamily="2" charset="0"/>
              </a:rPr>
              <a:t>OF DIFFERENT TYPES OF </a:t>
            </a:r>
            <a:r>
              <a:rPr lang="en-US" sz="4800" b="1" dirty="0">
                <a:solidFill>
                  <a:srgbClr val="002060"/>
                </a:solidFill>
                <a:latin typeface="Barlow" panose="00000500000000000000" pitchFamily="2" charset="0"/>
              </a:rPr>
              <a:t>INDUSTRIAL BEARINGS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0516A-2D05-9EB2-8E84-1C76D76E8425}"/>
              </a:ext>
            </a:extLst>
          </p:cNvPr>
          <p:cNvSpPr txBox="1"/>
          <p:nvPr/>
        </p:nvSpPr>
        <p:spPr>
          <a:xfrm>
            <a:off x="926123" y="62647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38175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1E7BEC-9D66-BFCC-E21A-4FE9B9896EB5}"/>
              </a:ext>
            </a:extLst>
          </p:cNvPr>
          <p:cNvSpPr txBox="1"/>
          <p:nvPr/>
        </p:nvSpPr>
        <p:spPr>
          <a:xfrm>
            <a:off x="940904" y="463826"/>
            <a:ext cx="69706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Barlow" panose="00000500000000000000" pitchFamily="2" charset="0"/>
              </a:rPr>
              <a:t>WHAT ARE BEARINGS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9A190-1F81-436A-CC08-152A7CD6F5D3}"/>
              </a:ext>
            </a:extLst>
          </p:cNvPr>
          <p:cNvSpPr txBox="1"/>
          <p:nvPr/>
        </p:nvSpPr>
        <p:spPr>
          <a:xfrm>
            <a:off x="940904" y="1476378"/>
            <a:ext cx="85609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latin typeface="Barlow" panose="00000500000000000000" pitchFamily="2" charset="0"/>
              </a:rPr>
              <a:t>A bearing is a machine Element that constraints Relative motion and is used to reduce the friction between Moving parts of a Machine.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1026" name="Picture 2" descr="What Are Bearings? Let's learn about the basic functions of bearings! /  Bearing Trivia / Koyo Bearings(JTEKT)">
            <a:extLst>
              <a:ext uri="{FF2B5EF4-FFF2-40B4-BE49-F238E27FC236}">
                <a16:creationId xmlns:a16="http://schemas.microsoft.com/office/drawing/2014/main" id="{4012BE23-3482-AEAD-38D6-1C008BEB3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5700" y="2784199"/>
            <a:ext cx="4800600" cy="3609975"/>
          </a:xfrm>
          <a:prstGeom prst="rect">
            <a:avLst/>
          </a:prstGeom>
          <a:solidFill>
            <a:srgbClr val="E8E8E8"/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189D8E-3697-782A-8286-EECA9924CD37}"/>
              </a:ext>
            </a:extLst>
          </p:cNvPr>
          <p:cNvSpPr txBox="1"/>
          <p:nvPr/>
        </p:nvSpPr>
        <p:spPr>
          <a:xfrm>
            <a:off x="841147" y="62341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8290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50" name="Picture 2" descr="Types of Bearings: Definition, Function, Uses, Advantages &amp; Disadvantages -  Engineering Learn">
            <a:extLst>
              <a:ext uri="{FF2B5EF4-FFF2-40B4-BE49-F238E27FC236}">
                <a16:creationId xmlns:a16="http://schemas.microsoft.com/office/drawing/2014/main" id="{E47F7AC3-EEE0-33CC-CC75-C1923F86D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887" y="1820754"/>
            <a:ext cx="8862208" cy="465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8E822F-CF18-4F08-1D34-43318274D30C}"/>
              </a:ext>
            </a:extLst>
          </p:cNvPr>
          <p:cNvSpPr txBox="1"/>
          <p:nvPr/>
        </p:nvSpPr>
        <p:spPr>
          <a:xfrm>
            <a:off x="1215887" y="543340"/>
            <a:ext cx="4517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Barlow" panose="00000500000000000000" pitchFamily="2" charset="0"/>
              </a:rPr>
              <a:t>TYPES OF BEARINGS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07BCA1-7CBB-6E39-5151-768138E44C6D}"/>
              </a:ext>
            </a:extLst>
          </p:cNvPr>
          <p:cNvSpPr txBox="1"/>
          <p:nvPr/>
        </p:nvSpPr>
        <p:spPr>
          <a:xfrm>
            <a:off x="879231" y="62647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1429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4" name="Picture 2" descr="Bearing Protection - City Seals &amp; Bearings">
            <a:extLst>
              <a:ext uri="{FF2B5EF4-FFF2-40B4-BE49-F238E27FC236}">
                <a16:creationId xmlns:a16="http://schemas.microsoft.com/office/drawing/2014/main" id="{C1B7D9F6-0B04-07CB-236C-6EA85BC2B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282" y="1829704"/>
            <a:ext cx="8051409" cy="4742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3DAC75-A7A8-0A1B-4883-800E6259AAC4}"/>
              </a:ext>
            </a:extLst>
          </p:cNvPr>
          <p:cNvSpPr txBox="1"/>
          <p:nvPr/>
        </p:nvSpPr>
        <p:spPr>
          <a:xfrm>
            <a:off x="1444282" y="645302"/>
            <a:ext cx="73773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COMMON CAUSES OF BEARING FAILURE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50B6D-A9C3-A49F-4B15-69D1CF88762C}"/>
              </a:ext>
            </a:extLst>
          </p:cNvPr>
          <p:cNvSpPr txBox="1"/>
          <p:nvPr/>
        </p:nvSpPr>
        <p:spPr>
          <a:xfrm>
            <a:off x="3306315" y="6264710"/>
            <a:ext cx="55793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https://www.cityseals.co.uk/products/bearing-protection/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1CA6E-EA4E-18E6-7189-65922E519D2B}"/>
              </a:ext>
            </a:extLst>
          </p:cNvPr>
          <p:cNvSpPr txBox="1"/>
          <p:nvPr/>
        </p:nvSpPr>
        <p:spPr>
          <a:xfrm>
            <a:off x="914400" y="61311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9286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3DAC75-A7A8-0A1B-4883-800E6259AAC4}"/>
              </a:ext>
            </a:extLst>
          </p:cNvPr>
          <p:cNvSpPr txBox="1"/>
          <p:nvPr/>
        </p:nvSpPr>
        <p:spPr>
          <a:xfrm>
            <a:off x="1444282" y="645302"/>
            <a:ext cx="4107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FAULTS IN BEARINGS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07E13C-3A6E-679D-F6E3-DEA4FC0F9B7F}"/>
              </a:ext>
            </a:extLst>
          </p:cNvPr>
          <p:cNvSpPr txBox="1"/>
          <p:nvPr/>
        </p:nvSpPr>
        <p:spPr>
          <a:xfrm>
            <a:off x="1444282" y="1577568"/>
            <a:ext cx="6904384" cy="31085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arlow" panose="00000500000000000000" pitchFamily="2" charset="0"/>
              </a:rPr>
              <a:t>Inner race fault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arlow" panose="00000500000000000000" pitchFamily="2" charset="0"/>
              </a:rPr>
              <a:t>Outer race fault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arlow" panose="00000500000000000000" pitchFamily="2" charset="0"/>
              </a:rPr>
              <a:t>seal breakage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arlow" panose="00000500000000000000" pitchFamily="2" charset="0"/>
              </a:rPr>
              <a:t>rolling element fault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392F0A-C234-77EA-083B-4C8E838D578C}"/>
              </a:ext>
            </a:extLst>
          </p:cNvPr>
          <p:cNvSpPr txBox="1"/>
          <p:nvPr/>
        </p:nvSpPr>
        <p:spPr>
          <a:xfrm>
            <a:off x="1066800" y="62647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292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98343D-14D8-AC36-7959-1AB89C11ACCF}"/>
              </a:ext>
            </a:extLst>
          </p:cNvPr>
          <p:cNvSpPr txBox="1"/>
          <p:nvPr/>
        </p:nvSpPr>
        <p:spPr>
          <a:xfrm>
            <a:off x="1501471" y="657835"/>
            <a:ext cx="65425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BACKGROUND AND MOTIVATION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F05B5-27E2-59DC-D3EE-45D9C4BD29CF}"/>
              </a:ext>
            </a:extLst>
          </p:cNvPr>
          <p:cNvSpPr txBox="1"/>
          <p:nvPr/>
        </p:nvSpPr>
        <p:spPr>
          <a:xfrm>
            <a:off x="1501471" y="1422111"/>
            <a:ext cx="76730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Bearings are one of the most critical components of industrial machineries and manufacturing systems, Statistics show that about 51 % failures in induction motors, gearboxes and wind turbine are due to bearing failure. So our problem statement is to design a testbed for bearings using AI based system to evaluate the Bearing condition.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19797F-4839-CA6C-1A20-DA64E5C33D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1471" y="2899439"/>
            <a:ext cx="7582120" cy="36076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93FF6A-752D-F828-40C8-833D8F2F22BB}"/>
              </a:ext>
            </a:extLst>
          </p:cNvPr>
          <p:cNvSpPr txBox="1"/>
          <p:nvPr/>
        </p:nvSpPr>
        <p:spPr>
          <a:xfrm>
            <a:off x="973015" y="62647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73406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FBD54C-2A47-70DB-AD4D-02390F2428EC}"/>
              </a:ext>
            </a:extLst>
          </p:cNvPr>
          <p:cNvSpPr txBox="1"/>
          <p:nvPr/>
        </p:nvSpPr>
        <p:spPr>
          <a:xfrm>
            <a:off x="1574374" y="657835"/>
            <a:ext cx="43957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AIMS AND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4ECAA1-2531-0651-0324-C3062D661E55}"/>
              </a:ext>
            </a:extLst>
          </p:cNvPr>
          <p:cNvSpPr txBox="1"/>
          <p:nvPr/>
        </p:nvSpPr>
        <p:spPr>
          <a:xfrm>
            <a:off x="1553831" y="1934019"/>
            <a:ext cx="830798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arlow" panose="00000500000000000000" pitchFamily="2" charset="0"/>
              </a:rPr>
              <a:t>Industrial bearings are susceptible to various types of faults that can ultimately result in the catastrophic failure of the entire system.</a:t>
            </a:r>
          </a:p>
          <a:p>
            <a:pPr algn="just"/>
            <a:endParaRPr lang="en-US" sz="2000" dirty="0">
              <a:latin typeface="Barlow" panose="00000500000000000000" pitchFamily="2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arlow" panose="00000500000000000000" pitchFamily="2" charset="0"/>
              </a:rPr>
              <a:t>This project aims to design and fabricate a general-purpose test bed to obtain data from various types of industrial bearings in different health states and process it with artificial intelligence for the health conditions assessment of bearings.</a:t>
            </a:r>
          </a:p>
          <a:p>
            <a:pPr algn="just"/>
            <a:endParaRPr lang="en-US" sz="2000" dirty="0">
              <a:latin typeface="Barlow" panose="00000500000000000000" pitchFamily="2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arlow" panose="00000500000000000000" pitchFamily="2" charset="0"/>
              </a:rPr>
              <a:t>The objective of this project is to design an AI based system that can evaluate the Bearing condition more effectively and accurately. The product will be commercialized, and a software/app could be developed later on that could analyze the bearings online.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BD8271-BF54-9C96-25E0-675D10B89FF6}"/>
              </a:ext>
            </a:extLst>
          </p:cNvPr>
          <p:cNvSpPr txBox="1"/>
          <p:nvPr/>
        </p:nvSpPr>
        <p:spPr>
          <a:xfrm>
            <a:off x="1019908" y="62647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84767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E0DEDF-5A60-76BA-0E93-B1F2B1FE52D9}"/>
              </a:ext>
            </a:extLst>
          </p:cNvPr>
          <p:cNvSpPr txBox="1"/>
          <p:nvPr/>
        </p:nvSpPr>
        <p:spPr>
          <a:xfrm>
            <a:off x="1228273" y="657835"/>
            <a:ext cx="4062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LITERATURE REVIEW</a:t>
            </a:r>
            <a:endParaRPr lang="en-US" sz="2400" b="1" dirty="0">
              <a:latin typeface="Barlow" panose="00000500000000000000" pitchFamily="2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B52149F-A06D-2A23-E0A6-8A377F11F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735273"/>
              </p:ext>
            </p:extLst>
          </p:nvPr>
        </p:nvGraphicFramePr>
        <p:xfrm>
          <a:off x="1228273" y="1884792"/>
          <a:ext cx="9131748" cy="4163441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521958">
                  <a:extLst>
                    <a:ext uri="{9D8B030D-6E8A-4147-A177-3AD203B41FA5}">
                      <a16:colId xmlns:a16="http://schemas.microsoft.com/office/drawing/2014/main" val="3830291613"/>
                    </a:ext>
                  </a:extLst>
                </a:gridCol>
                <a:gridCol w="1722737">
                  <a:extLst>
                    <a:ext uri="{9D8B030D-6E8A-4147-A177-3AD203B41FA5}">
                      <a16:colId xmlns:a16="http://schemas.microsoft.com/office/drawing/2014/main" val="381982783"/>
                    </a:ext>
                  </a:extLst>
                </a:gridCol>
                <a:gridCol w="1636284">
                  <a:extLst>
                    <a:ext uri="{9D8B030D-6E8A-4147-A177-3AD203B41FA5}">
                      <a16:colId xmlns:a16="http://schemas.microsoft.com/office/drawing/2014/main" val="179312408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87357719"/>
                    </a:ext>
                  </a:extLst>
                </a:gridCol>
                <a:gridCol w="1590261">
                  <a:extLst>
                    <a:ext uri="{9D8B030D-6E8A-4147-A177-3AD203B41FA5}">
                      <a16:colId xmlns:a16="http://schemas.microsoft.com/office/drawing/2014/main" val="488036622"/>
                    </a:ext>
                  </a:extLst>
                </a:gridCol>
                <a:gridCol w="1136508">
                  <a:extLst>
                    <a:ext uri="{9D8B030D-6E8A-4147-A177-3AD203B41FA5}">
                      <a16:colId xmlns:a16="http://schemas.microsoft.com/office/drawing/2014/main" val="159846546"/>
                    </a:ext>
                  </a:extLst>
                </a:gridCol>
              </a:tblGrid>
              <a:tr h="60337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S.NO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Bearing Type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Bearing Defect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Signal Type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Technique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Reference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93394"/>
                  </a:ext>
                </a:extLst>
              </a:tr>
              <a:tr h="6339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Ball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Inner Race</a:t>
                      </a:r>
                      <a:br>
                        <a:rPr lang="en-US" sz="1400" dirty="0">
                          <a:latin typeface="Barlow" panose="00000500000000000000" pitchFamily="2" charset="0"/>
                        </a:rPr>
                      </a:br>
                      <a:r>
                        <a:rPr lang="en-US" sz="1400" dirty="0">
                          <a:latin typeface="Barlow" panose="00000500000000000000" pitchFamily="2" charset="0"/>
                        </a:rPr>
                        <a:t>Outer 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Vibration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Neural Network Using Genetic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[1]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406587"/>
                  </a:ext>
                </a:extLst>
              </a:tr>
              <a:tr h="6339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Roller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Inner Race</a:t>
                      </a:r>
                      <a:br>
                        <a:rPr lang="en-US" sz="1400" dirty="0">
                          <a:latin typeface="Barlow" panose="00000500000000000000" pitchFamily="2" charset="0"/>
                        </a:rPr>
                      </a:br>
                      <a:r>
                        <a:rPr lang="en-US" sz="1400" dirty="0">
                          <a:latin typeface="Barlow" panose="00000500000000000000" pitchFamily="2" charset="0"/>
                        </a:rPr>
                        <a:t>Outer Race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Ball Defect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Vibration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SVM</a:t>
                      </a:r>
                      <a:br>
                        <a:rPr lang="en-US" sz="1400" dirty="0">
                          <a:latin typeface="Barlow" panose="00000500000000000000" pitchFamily="2" charset="0"/>
                        </a:rPr>
                      </a:br>
                      <a:r>
                        <a:rPr lang="en-US" sz="1400" dirty="0">
                          <a:latin typeface="Barlow" panose="00000500000000000000" pitchFamily="2" charset="0"/>
                        </a:rPr>
                        <a:t>KNN</a:t>
                      </a:r>
                    </a:p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FKNN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152033"/>
                  </a:ext>
                </a:extLst>
              </a:tr>
              <a:tr h="6339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Ball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Outer 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Vibration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Barlow" panose="00000500000000000000" pitchFamily="2" charset="0"/>
                        </a:rPr>
                        <a:t>ANN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[3]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446411"/>
                  </a:ext>
                </a:extLst>
              </a:tr>
              <a:tr h="6339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Roller element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Inner Race</a:t>
                      </a:r>
                      <a:br>
                        <a:rPr lang="en-US" sz="1400" dirty="0">
                          <a:latin typeface="Barlow" panose="00000500000000000000" pitchFamily="2" charset="0"/>
                        </a:rPr>
                      </a:br>
                      <a:r>
                        <a:rPr lang="en-US" sz="1400" dirty="0">
                          <a:latin typeface="Barlow" panose="00000500000000000000" pitchFamily="2" charset="0"/>
                        </a:rPr>
                        <a:t>Outer Race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>
                        <a:latin typeface="Barlow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Vibration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[4]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985333"/>
                  </a:ext>
                </a:extLst>
              </a:tr>
              <a:tr h="6339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Roller element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Wear and Pitting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Wavelet Transform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Vibration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Deep Learning and Information 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[5]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05114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EB2E4C7-36AC-6945-0F40-6DDCF4F73231}"/>
              </a:ext>
            </a:extLst>
          </p:cNvPr>
          <p:cNvSpPr txBox="1"/>
          <p:nvPr/>
        </p:nvSpPr>
        <p:spPr>
          <a:xfrm>
            <a:off x="879231" y="635912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84337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E0DEDF-5A60-76BA-0E93-B1F2B1FE52D9}"/>
              </a:ext>
            </a:extLst>
          </p:cNvPr>
          <p:cNvSpPr txBox="1"/>
          <p:nvPr/>
        </p:nvSpPr>
        <p:spPr>
          <a:xfrm>
            <a:off x="1228273" y="657835"/>
            <a:ext cx="40623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LITERATURE REVIEW</a:t>
            </a:r>
            <a:endParaRPr lang="en-US" sz="2400" b="1" dirty="0">
              <a:latin typeface="Barlow" panose="00000500000000000000" pitchFamily="2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B52149F-A06D-2A23-E0A6-8A377F11F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643185"/>
              </p:ext>
            </p:extLst>
          </p:nvPr>
        </p:nvGraphicFramePr>
        <p:xfrm>
          <a:off x="1228273" y="1839572"/>
          <a:ext cx="9131748" cy="4376801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521958">
                  <a:extLst>
                    <a:ext uri="{9D8B030D-6E8A-4147-A177-3AD203B41FA5}">
                      <a16:colId xmlns:a16="http://schemas.microsoft.com/office/drawing/2014/main" val="3830291613"/>
                    </a:ext>
                  </a:extLst>
                </a:gridCol>
                <a:gridCol w="1722737">
                  <a:extLst>
                    <a:ext uri="{9D8B030D-6E8A-4147-A177-3AD203B41FA5}">
                      <a16:colId xmlns:a16="http://schemas.microsoft.com/office/drawing/2014/main" val="381982783"/>
                    </a:ext>
                  </a:extLst>
                </a:gridCol>
                <a:gridCol w="1662789">
                  <a:extLst>
                    <a:ext uri="{9D8B030D-6E8A-4147-A177-3AD203B41FA5}">
                      <a16:colId xmlns:a16="http://schemas.microsoft.com/office/drawing/2014/main" val="1793124086"/>
                    </a:ext>
                  </a:extLst>
                </a:gridCol>
                <a:gridCol w="1563756">
                  <a:extLst>
                    <a:ext uri="{9D8B030D-6E8A-4147-A177-3AD203B41FA5}">
                      <a16:colId xmlns:a16="http://schemas.microsoft.com/office/drawing/2014/main" val="1587357719"/>
                    </a:ext>
                  </a:extLst>
                </a:gridCol>
                <a:gridCol w="1519267">
                  <a:extLst>
                    <a:ext uri="{9D8B030D-6E8A-4147-A177-3AD203B41FA5}">
                      <a16:colId xmlns:a16="http://schemas.microsoft.com/office/drawing/2014/main" val="488036622"/>
                    </a:ext>
                  </a:extLst>
                </a:gridCol>
                <a:gridCol w="1141241">
                  <a:extLst>
                    <a:ext uri="{9D8B030D-6E8A-4147-A177-3AD203B41FA5}">
                      <a16:colId xmlns:a16="http://schemas.microsoft.com/office/drawing/2014/main" val="159846546"/>
                    </a:ext>
                  </a:extLst>
                </a:gridCol>
              </a:tblGrid>
              <a:tr h="60337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S.NO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Bearing Type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Bearing Defect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Signal Type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Technique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Reference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293394"/>
                  </a:ext>
                </a:extLst>
              </a:tr>
              <a:tr h="6339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Roller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Inner Race</a:t>
                      </a:r>
                      <a:br>
                        <a:rPr lang="en-US" sz="1400" dirty="0">
                          <a:latin typeface="Barlow" panose="00000500000000000000" pitchFamily="2" charset="0"/>
                        </a:rPr>
                      </a:br>
                      <a:r>
                        <a:rPr lang="en-US" sz="1400" dirty="0">
                          <a:latin typeface="Barlow" panose="00000500000000000000" pitchFamily="2" charset="0"/>
                        </a:rPr>
                        <a:t>Outer Race</a:t>
                      </a:r>
                    </a:p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Bearing 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Vibration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1D-CNN</a:t>
                      </a:r>
                    </a:p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(convolutional neural network)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[6]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406587"/>
                  </a:ext>
                </a:extLst>
              </a:tr>
              <a:tr h="6339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Ball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Inner Race</a:t>
                      </a:r>
                      <a:br>
                        <a:rPr lang="en-US" sz="1400" dirty="0">
                          <a:latin typeface="Barlow" panose="00000500000000000000" pitchFamily="2" charset="0"/>
                        </a:rPr>
                      </a:br>
                      <a:r>
                        <a:rPr lang="en-US" sz="1400" dirty="0">
                          <a:latin typeface="Barlow" panose="00000500000000000000" pitchFamily="2" charset="0"/>
                        </a:rPr>
                        <a:t>Outer 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Vibration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ANN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[7]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152033"/>
                  </a:ext>
                </a:extLst>
              </a:tr>
              <a:tr h="6339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Roller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Cage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Inner Race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Outer Race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Vibration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SVM</a:t>
                      </a:r>
                    </a:p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(support vector machine)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[8]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446411"/>
                  </a:ext>
                </a:extLst>
              </a:tr>
              <a:tr h="6339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Cylindrical Roller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Inner Race</a:t>
                      </a:r>
                      <a:br>
                        <a:rPr lang="en-US" sz="1400" dirty="0">
                          <a:latin typeface="Barlow" panose="00000500000000000000" pitchFamily="2" charset="0"/>
                        </a:rPr>
                      </a:br>
                      <a:r>
                        <a:rPr lang="en-US" sz="1400" dirty="0">
                          <a:latin typeface="Barlow" panose="00000500000000000000" pitchFamily="2" charset="0"/>
                        </a:rPr>
                        <a:t>Outer Race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Vibration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[9]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985333"/>
                  </a:ext>
                </a:extLst>
              </a:tr>
              <a:tr h="63398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Ball Bearings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Inner Race</a:t>
                      </a:r>
                      <a:br>
                        <a:rPr lang="en-US" sz="1400" dirty="0">
                          <a:latin typeface="Barlow" panose="00000500000000000000" pitchFamily="2" charset="0"/>
                        </a:rPr>
                      </a:br>
                      <a:r>
                        <a:rPr lang="en-US" sz="1400" dirty="0">
                          <a:latin typeface="Barlow" panose="00000500000000000000" pitchFamily="2" charset="0"/>
                        </a:rPr>
                        <a:t>Surface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Ball with corrosion pitting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Vibration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ANN</a:t>
                      </a:r>
                    </a:p>
                    <a:p>
                      <a:r>
                        <a:rPr lang="en-US" sz="1400" dirty="0">
                          <a:latin typeface="Barlow" panose="00000500000000000000" pitchFamily="2" charset="0"/>
                        </a:rP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dirty="0">
                          <a:latin typeface="Barlow" panose="00000500000000000000" pitchFamily="2" charset="0"/>
                        </a:rPr>
                        <a:t>[10]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05114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7DA9F9-019C-860E-BA82-4DCFF69D2082}"/>
              </a:ext>
            </a:extLst>
          </p:cNvPr>
          <p:cNvSpPr txBox="1"/>
          <p:nvPr/>
        </p:nvSpPr>
        <p:spPr>
          <a:xfrm>
            <a:off x="879231" y="63773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1661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12713E-295B-542D-93F7-E50EF56DFF72}"/>
              </a:ext>
            </a:extLst>
          </p:cNvPr>
          <p:cNvSpPr txBox="1"/>
          <p:nvPr/>
        </p:nvSpPr>
        <p:spPr>
          <a:xfrm>
            <a:off x="1590261" y="411614"/>
            <a:ext cx="775252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TECHNIQUES FOR DETECTING </a:t>
            </a:r>
          </a:p>
          <a:p>
            <a:r>
              <a:rPr lang="en-US" sz="3200" b="1" dirty="0">
                <a:latin typeface="Barlow" panose="00000500000000000000" pitchFamily="2" charset="0"/>
              </a:rPr>
              <a:t>FAILURES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3A72D2-9A0F-BA1D-FA16-E4292C3074EB}"/>
              </a:ext>
            </a:extLst>
          </p:cNvPr>
          <p:cNvSpPr txBox="1"/>
          <p:nvPr/>
        </p:nvSpPr>
        <p:spPr>
          <a:xfrm>
            <a:off x="1590261" y="1620812"/>
            <a:ext cx="5857461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Barlow" panose="00000500000000000000" pitchFamily="2" charset="0"/>
              </a:rPr>
              <a:t>Motor current signal analysis (MCSA)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Barlow" panose="00000500000000000000" pitchFamily="2" charset="0"/>
              </a:rPr>
              <a:t>Acoustic signal analysis.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Barlow" panose="00000500000000000000" pitchFamily="2" charset="0"/>
              </a:rPr>
              <a:t>Vibration signal analysis.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Barlow" panose="00000500000000000000" pitchFamily="2" charset="0"/>
              </a:rPr>
              <a:t>Thermography.</a:t>
            </a:r>
            <a:endParaRPr lang="en-PK" sz="2400" b="1" dirty="0">
              <a:solidFill>
                <a:srgbClr val="002060"/>
              </a:solidFill>
              <a:latin typeface="Barlow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7A4DD8-C8CA-C4B7-1764-74D00BC87E2F}"/>
              </a:ext>
            </a:extLst>
          </p:cNvPr>
          <p:cNvSpPr txBox="1"/>
          <p:nvPr/>
        </p:nvSpPr>
        <p:spPr>
          <a:xfrm>
            <a:off x="855785" y="626471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4581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477468CD-BBA1-F13D-48EC-C944520B3EE9}"/>
              </a:ext>
            </a:extLst>
          </p:cNvPr>
          <p:cNvSpPr/>
          <p:nvPr/>
        </p:nvSpPr>
        <p:spPr>
          <a:xfrm>
            <a:off x="5051034" y="626420"/>
            <a:ext cx="1453661" cy="502916"/>
          </a:xfrm>
          <a:prstGeom prst="flowChartTermina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Barlow" panose="00000500000000000000" pitchFamily="2" charset="0"/>
              </a:rPr>
              <a:t>AI Algorithms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67C9B43-D281-676A-8769-F996BC167BB9}"/>
              </a:ext>
            </a:extLst>
          </p:cNvPr>
          <p:cNvCxnSpPr>
            <a:cxnSpLocks/>
            <a:stCxn id="3" idx="2"/>
            <a:endCxn id="26" idx="0"/>
          </p:cNvCxnSpPr>
          <p:nvPr/>
        </p:nvCxnSpPr>
        <p:spPr>
          <a:xfrm>
            <a:off x="5777865" y="1129336"/>
            <a:ext cx="13335" cy="771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40E973-F59C-DF5A-97CC-94DE908525AB}"/>
              </a:ext>
            </a:extLst>
          </p:cNvPr>
          <p:cNvCxnSpPr>
            <a:cxnSpLocks/>
          </p:cNvCxnSpPr>
          <p:nvPr/>
        </p:nvCxnSpPr>
        <p:spPr>
          <a:xfrm>
            <a:off x="2726053" y="1521723"/>
            <a:ext cx="30575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9A77B6-0EBD-05D7-7141-6C0CD7BFC15C}"/>
              </a:ext>
            </a:extLst>
          </p:cNvPr>
          <p:cNvCxnSpPr>
            <a:cxnSpLocks/>
          </p:cNvCxnSpPr>
          <p:nvPr/>
        </p:nvCxnSpPr>
        <p:spPr>
          <a:xfrm>
            <a:off x="8720138" y="1521721"/>
            <a:ext cx="0" cy="378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Terminator 25">
            <a:extLst>
              <a:ext uri="{FF2B5EF4-FFF2-40B4-BE49-F238E27FC236}">
                <a16:creationId xmlns:a16="http://schemas.microsoft.com/office/drawing/2014/main" id="{FDE6757D-3856-C765-7C33-02701350E782}"/>
              </a:ext>
            </a:extLst>
          </p:cNvPr>
          <p:cNvSpPr/>
          <p:nvPr/>
        </p:nvSpPr>
        <p:spPr>
          <a:xfrm>
            <a:off x="5097780" y="1900445"/>
            <a:ext cx="1386840" cy="502920"/>
          </a:xfrm>
          <a:prstGeom prst="flowChartTermina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Barlow" panose="00000500000000000000" pitchFamily="2" charset="0"/>
              </a:rPr>
              <a:t>Supervised Learning</a:t>
            </a:r>
          </a:p>
        </p:txBody>
      </p:sp>
      <p:sp>
        <p:nvSpPr>
          <p:cNvPr id="27" name="Flowchart: Terminator 26">
            <a:extLst>
              <a:ext uri="{FF2B5EF4-FFF2-40B4-BE49-F238E27FC236}">
                <a16:creationId xmlns:a16="http://schemas.microsoft.com/office/drawing/2014/main" id="{86F8353F-7FCE-0DC7-616E-53904EFE4413}"/>
              </a:ext>
            </a:extLst>
          </p:cNvPr>
          <p:cNvSpPr/>
          <p:nvPr/>
        </p:nvSpPr>
        <p:spPr>
          <a:xfrm>
            <a:off x="8046136" y="1900445"/>
            <a:ext cx="1555063" cy="502920"/>
          </a:xfrm>
          <a:prstGeom prst="flowChartTermina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Barlow" panose="00000500000000000000" pitchFamily="2" charset="0"/>
              </a:rPr>
              <a:t>Reinforcement Learning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56B9E38-4FB3-6F23-6BAD-B8D4B96D0268}"/>
              </a:ext>
            </a:extLst>
          </p:cNvPr>
          <p:cNvCxnSpPr>
            <a:cxnSpLocks/>
          </p:cNvCxnSpPr>
          <p:nvPr/>
        </p:nvCxnSpPr>
        <p:spPr>
          <a:xfrm>
            <a:off x="5791200" y="2308115"/>
            <a:ext cx="0" cy="3787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C0451A4-EBFC-4AD9-6DD9-3E8F5E9961F7}"/>
              </a:ext>
            </a:extLst>
          </p:cNvPr>
          <p:cNvCxnSpPr>
            <a:cxnSpLocks/>
            <a:endCxn id="96" idx="0"/>
          </p:cNvCxnSpPr>
          <p:nvPr/>
        </p:nvCxnSpPr>
        <p:spPr>
          <a:xfrm>
            <a:off x="4391025" y="2686836"/>
            <a:ext cx="0" cy="774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4DFBD8F-CAE9-88C4-AC77-E6AB89EF7C4E}"/>
              </a:ext>
            </a:extLst>
          </p:cNvPr>
          <p:cNvCxnSpPr>
            <a:cxnSpLocks/>
          </p:cNvCxnSpPr>
          <p:nvPr/>
        </p:nvCxnSpPr>
        <p:spPr>
          <a:xfrm flipH="1">
            <a:off x="7156822" y="2686836"/>
            <a:ext cx="1225" cy="8816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25A81F38-CEE5-51F2-DDC0-76976B8B8386}"/>
              </a:ext>
            </a:extLst>
          </p:cNvPr>
          <p:cNvCxnSpPr>
            <a:cxnSpLocks/>
          </p:cNvCxnSpPr>
          <p:nvPr/>
        </p:nvCxnSpPr>
        <p:spPr>
          <a:xfrm>
            <a:off x="4391025" y="2686836"/>
            <a:ext cx="14001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CE7566C7-CF11-8015-9881-5769A22939DC}"/>
              </a:ext>
            </a:extLst>
          </p:cNvPr>
          <p:cNvCxnSpPr>
            <a:cxnSpLocks/>
          </p:cNvCxnSpPr>
          <p:nvPr/>
        </p:nvCxnSpPr>
        <p:spPr>
          <a:xfrm>
            <a:off x="2718432" y="1521722"/>
            <a:ext cx="0" cy="378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lowchart: Terminator 85">
            <a:extLst>
              <a:ext uri="{FF2B5EF4-FFF2-40B4-BE49-F238E27FC236}">
                <a16:creationId xmlns:a16="http://schemas.microsoft.com/office/drawing/2014/main" id="{A091E3AA-200C-0752-D9E8-911F2278E4B1}"/>
              </a:ext>
            </a:extLst>
          </p:cNvPr>
          <p:cNvSpPr/>
          <p:nvPr/>
        </p:nvSpPr>
        <p:spPr>
          <a:xfrm>
            <a:off x="2055491" y="1900445"/>
            <a:ext cx="1473153" cy="502920"/>
          </a:xfrm>
          <a:prstGeom prst="flowChartTerminator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latin typeface="Barlow" panose="00000500000000000000" pitchFamily="2" charset="0"/>
              </a:rPr>
              <a:t>Unsupervised Learning</a:t>
            </a:r>
          </a:p>
        </p:txBody>
      </p: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79ECC78-6F3B-59F4-905A-E0666C4DDB8F}"/>
              </a:ext>
            </a:extLst>
          </p:cNvPr>
          <p:cNvCxnSpPr>
            <a:cxnSpLocks/>
          </p:cNvCxnSpPr>
          <p:nvPr/>
        </p:nvCxnSpPr>
        <p:spPr>
          <a:xfrm>
            <a:off x="5662611" y="1521722"/>
            <a:ext cx="30575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81C10692-15BA-C451-D3B2-57ECCE0103E4}"/>
              </a:ext>
            </a:extLst>
          </p:cNvPr>
          <p:cNvSpPr/>
          <p:nvPr/>
        </p:nvSpPr>
        <p:spPr>
          <a:xfrm>
            <a:off x="3389955" y="3460849"/>
            <a:ext cx="2002140" cy="187542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Barlow" panose="00000500000000000000" pitchFamily="2" charset="0"/>
              </a:rPr>
              <a:t>Classification: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arlow" panose="00000500000000000000" pitchFamily="2" charset="0"/>
              </a:rPr>
              <a:t>SVM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arlow" panose="00000500000000000000" pitchFamily="2" charset="0"/>
              </a:rPr>
              <a:t>KNN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arlow" panose="00000500000000000000" pitchFamily="2" charset="0"/>
              </a:rPr>
              <a:t>Random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arlow" panose="00000500000000000000" pitchFamily="2" charset="0"/>
              </a:rPr>
              <a:t>Decision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arlow" panose="00000500000000000000" pitchFamily="2" charset="0"/>
              </a:rPr>
              <a:t>Naive Bayesian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69ACDEC-A787-D0C5-1292-8FD42A3F633A}"/>
              </a:ext>
            </a:extLst>
          </p:cNvPr>
          <p:cNvCxnSpPr>
            <a:cxnSpLocks/>
          </p:cNvCxnSpPr>
          <p:nvPr/>
        </p:nvCxnSpPr>
        <p:spPr>
          <a:xfrm>
            <a:off x="5791200" y="2686836"/>
            <a:ext cx="14001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684E322-20A0-68DC-7640-5C90B3363FB7}"/>
              </a:ext>
            </a:extLst>
          </p:cNvPr>
          <p:cNvSpPr/>
          <p:nvPr/>
        </p:nvSpPr>
        <p:spPr>
          <a:xfrm>
            <a:off x="6156976" y="3568478"/>
            <a:ext cx="2140357" cy="8850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latin typeface="Barlow" panose="00000500000000000000" pitchFamily="2" charset="0"/>
              </a:rPr>
              <a:t>Regression: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arlow" panose="00000500000000000000" pitchFamily="2" charset="0"/>
              </a:rPr>
              <a:t>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Barlow" panose="00000500000000000000" pitchFamily="2" charset="0"/>
              </a:rPr>
              <a:t>Logistic Regression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8EBF17-B9A2-A9AB-2F66-5378884D3FED}"/>
              </a:ext>
            </a:extLst>
          </p:cNvPr>
          <p:cNvSpPr txBox="1"/>
          <p:nvPr/>
        </p:nvSpPr>
        <p:spPr>
          <a:xfrm>
            <a:off x="984738" y="626471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13243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045CA0-80F0-EF88-FF13-0E39991C7C7E}"/>
              </a:ext>
            </a:extLst>
          </p:cNvPr>
          <p:cNvSpPr txBox="1"/>
          <p:nvPr/>
        </p:nvSpPr>
        <p:spPr>
          <a:xfrm>
            <a:off x="1696279" y="411614"/>
            <a:ext cx="542007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APPLICATION OF ARTIFICIAL</a:t>
            </a:r>
          </a:p>
          <a:p>
            <a:r>
              <a:rPr lang="en-US" sz="3200" b="1" dirty="0">
                <a:latin typeface="Barlow" panose="00000500000000000000" pitchFamily="2" charset="0"/>
              </a:rPr>
              <a:t>INTELLIGENCE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2FF87-7C85-9EB6-1676-93B210F7317C}"/>
              </a:ext>
            </a:extLst>
          </p:cNvPr>
          <p:cNvSpPr txBox="1"/>
          <p:nvPr/>
        </p:nvSpPr>
        <p:spPr>
          <a:xfrm>
            <a:off x="1828800" y="1749287"/>
            <a:ext cx="4774064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Barlow" panose="00000500000000000000" pitchFamily="2" charset="0"/>
              </a:rPr>
              <a:t>Support Vector Machine (SVM).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Barlow" panose="00000500000000000000" pitchFamily="2" charset="0"/>
              </a:rPr>
              <a:t>K Nearest Neighbors (KNN).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Barlow" panose="00000500000000000000" pitchFamily="2" charset="0"/>
              </a:rPr>
              <a:t>Naive Bayesian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Barlow" panose="00000500000000000000" pitchFamily="2" charset="0"/>
              </a:rPr>
              <a:t>Decision Tree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002060"/>
                </a:solidFill>
                <a:latin typeface="Barlow" panose="00000500000000000000" pitchFamily="2" charset="0"/>
              </a:rPr>
              <a:t>Random Forest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06D85D-09EB-21D9-D0E5-568DB25D7513}"/>
              </a:ext>
            </a:extLst>
          </p:cNvPr>
          <p:cNvSpPr txBox="1"/>
          <p:nvPr/>
        </p:nvSpPr>
        <p:spPr>
          <a:xfrm>
            <a:off x="844062" y="626471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94213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692810-6A0B-909D-7BF8-4BC7D2B50F11}"/>
              </a:ext>
            </a:extLst>
          </p:cNvPr>
          <p:cNvSpPr/>
          <p:nvPr/>
        </p:nvSpPr>
        <p:spPr>
          <a:xfrm>
            <a:off x="1306013" y="3207908"/>
            <a:ext cx="2378582" cy="1709608"/>
          </a:xfrm>
          <a:prstGeom prst="roundRect">
            <a:avLst/>
          </a:prstGeom>
          <a:solidFill>
            <a:srgbClr val="EAEAE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Barlow" panose="00000500000000000000" pitchFamily="2" charset="0"/>
              </a:rPr>
              <a:t>Sensors and Inspection Data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Barlow" panose="00000500000000000000" pitchFamily="2" charset="0"/>
              </a:rPr>
              <a:t>Event (Failure) Data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Barlow" panose="00000500000000000000" pitchFamily="2" charset="0"/>
              </a:rPr>
              <a:t>Environmental Data </a:t>
            </a:r>
          </a:p>
          <a:p>
            <a:r>
              <a:rPr lang="en-US" sz="1400" b="1" dirty="0">
                <a:solidFill>
                  <a:schemeClr val="tx1"/>
                </a:solidFill>
                <a:latin typeface="Barlow" panose="00000500000000000000" pitchFamily="2" charset="0"/>
              </a:rPr>
              <a:t>      (Including noise)</a:t>
            </a:r>
          </a:p>
        </p:txBody>
      </p:sp>
      <p:sp>
        <p:nvSpPr>
          <p:cNvPr id="6" name="Octagon 5">
            <a:extLst>
              <a:ext uri="{FF2B5EF4-FFF2-40B4-BE49-F238E27FC236}">
                <a16:creationId xmlns:a16="http://schemas.microsoft.com/office/drawing/2014/main" id="{691E38F0-0CE3-1B17-FB0E-48D1D4DE56B2}"/>
              </a:ext>
            </a:extLst>
          </p:cNvPr>
          <p:cNvSpPr/>
          <p:nvPr/>
        </p:nvSpPr>
        <p:spPr>
          <a:xfrm>
            <a:off x="3061743" y="4758488"/>
            <a:ext cx="1961322" cy="556591"/>
          </a:xfrm>
          <a:prstGeom prst="octagon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Acquisition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3FEF3D6-84F0-A5AA-94EA-C1645DDAEA63}"/>
              </a:ext>
            </a:extLst>
          </p:cNvPr>
          <p:cNvSpPr/>
          <p:nvPr/>
        </p:nvSpPr>
        <p:spPr>
          <a:xfrm>
            <a:off x="4734350" y="2180944"/>
            <a:ext cx="2378582" cy="1709608"/>
          </a:xfrm>
          <a:prstGeom prst="roundRect">
            <a:avLst/>
          </a:prstGeom>
          <a:solidFill>
            <a:srgbClr val="EAEAE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Barlow" panose="00000500000000000000" pitchFamily="2" charset="0"/>
              </a:rPr>
              <a:t>Pre-processing and cleaning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Barlow" panose="00000500000000000000" pitchFamily="2" charset="0"/>
              </a:rPr>
              <a:t>Separation (training and testing set)</a:t>
            </a:r>
          </a:p>
        </p:txBody>
      </p:sp>
      <p:sp>
        <p:nvSpPr>
          <p:cNvPr id="8" name="Octagon 7">
            <a:extLst>
              <a:ext uri="{FF2B5EF4-FFF2-40B4-BE49-F238E27FC236}">
                <a16:creationId xmlns:a16="http://schemas.microsoft.com/office/drawing/2014/main" id="{B98C88BF-7327-0F53-2536-61ECE8FC3048}"/>
              </a:ext>
            </a:extLst>
          </p:cNvPr>
          <p:cNvSpPr/>
          <p:nvPr/>
        </p:nvSpPr>
        <p:spPr>
          <a:xfrm>
            <a:off x="6737895" y="1730373"/>
            <a:ext cx="2247570" cy="655980"/>
          </a:xfrm>
          <a:prstGeom prst="octagon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Algorithm Selection &amp; Application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A44E04-E136-45E5-4E53-CB453F07309B}"/>
              </a:ext>
            </a:extLst>
          </p:cNvPr>
          <p:cNvSpPr/>
          <p:nvPr/>
        </p:nvSpPr>
        <p:spPr>
          <a:xfrm>
            <a:off x="8699218" y="3207908"/>
            <a:ext cx="2378582" cy="1709608"/>
          </a:xfrm>
          <a:prstGeom prst="roundRect">
            <a:avLst/>
          </a:prstGeom>
          <a:solidFill>
            <a:srgbClr val="EAEAEA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Barlow" panose="00000500000000000000" pitchFamily="2" charset="0"/>
              </a:rPr>
              <a:t>Fault Detection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Barlow" panose="00000500000000000000" pitchFamily="2" charset="0"/>
              </a:rPr>
              <a:t>Failure Analysis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Barlow" panose="00000500000000000000" pitchFamily="2" charset="0"/>
              </a:rPr>
              <a:t>Confidence Determination</a:t>
            </a:r>
          </a:p>
        </p:txBody>
      </p:sp>
      <p:sp>
        <p:nvSpPr>
          <p:cNvPr id="10" name="Octagon 9">
            <a:extLst>
              <a:ext uri="{FF2B5EF4-FFF2-40B4-BE49-F238E27FC236}">
                <a16:creationId xmlns:a16="http://schemas.microsoft.com/office/drawing/2014/main" id="{2AA89C93-9392-3A50-7AB4-52750ADCEA1B}"/>
              </a:ext>
            </a:extLst>
          </p:cNvPr>
          <p:cNvSpPr/>
          <p:nvPr/>
        </p:nvSpPr>
        <p:spPr>
          <a:xfrm>
            <a:off x="7112932" y="4492428"/>
            <a:ext cx="2211788" cy="822651"/>
          </a:xfrm>
          <a:prstGeom prst="octagon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Maintenance Decision Making</a:t>
            </a:r>
          </a:p>
        </p:txBody>
      </p:sp>
      <p:sp>
        <p:nvSpPr>
          <p:cNvPr id="18" name="Arrow: Bent 17">
            <a:extLst>
              <a:ext uri="{FF2B5EF4-FFF2-40B4-BE49-F238E27FC236}">
                <a16:creationId xmlns:a16="http://schemas.microsoft.com/office/drawing/2014/main" id="{E4340D97-3D1A-A0A5-9040-1C3174C82728}"/>
              </a:ext>
            </a:extLst>
          </p:cNvPr>
          <p:cNvSpPr/>
          <p:nvPr/>
        </p:nvSpPr>
        <p:spPr>
          <a:xfrm rot="16200000" flipV="1">
            <a:off x="4947814" y="3965800"/>
            <a:ext cx="1187002" cy="1036503"/>
          </a:xfrm>
          <a:prstGeom prst="bentArrow">
            <a:avLst>
              <a:gd name="adj1" fmla="val 5000"/>
              <a:gd name="adj2" fmla="val 13235"/>
              <a:gd name="adj3" fmla="val 25000"/>
              <a:gd name="adj4" fmla="val 512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Arrow: Bent 18">
            <a:extLst>
              <a:ext uri="{FF2B5EF4-FFF2-40B4-BE49-F238E27FC236}">
                <a16:creationId xmlns:a16="http://schemas.microsoft.com/office/drawing/2014/main" id="{863E8D0F-6206-185B-0545-D7C251825C61}"/>
              </a:ext>
            </a:extLst>
          </p:cNvPr>
          <p:cNvSpPr/>
          <p:nvPr/>
        </p:nvSpPr>
        <p:spPr>
          <a:xfrm rot="5400000">
            <a:off x="8910215" y="2120283"/>
            <a:ext cx="1187002" cy="1036503"/>
          </a:xfrm>
          <a:prstGeom prst="bentArrow">
            <a:avLst>
              <a:gd name="adj1" fmla="val 5000"/>
              <a:gd name="adj2" fmla="val 13235"/>
              <a:gd name="adj3" fmla="val 25000"/>
              <a:gd name="adj4" fmla="val 5128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U-Turn 19">
            <a:extLst>
              <a:ext uri="{FF2B5EF4-FFF2-40B4-BE49-F238E27FC236}">
                <a16:creationId xmlns:a16="http://schemas.microsoft.com/office/drawing/2014/main" id="{282254A6-5068-766A-68CD-1BC8BB1F5707}"/>
              </a:ext>
            </a:extLst>
          </p:cNvPr>
          <p:cNvSpPr/>
          <p:nvPr/>
        </p:nvSpPr>
        <p:spPr>
          <a:xfrm rot="10800000">
            <a:off x="3883379" y="5333153"/>
            <a:ext cx="4335447" cy="556593"/>
          </a:xfrm>
          <a:prstGeom prst="uturnArrow">
            <a:avLst>
              <a:gd name="adj1" fmla="val 10714"/>
              <a:gd name="adj2" fmla="val 25000"/>
              <a:gd name="adj3" fmla="val 34524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1B291-73D3-2743-D2DA-07691EAF98CC}"/>
              </a:ext>
            </a:extLst>
          </p:cNvPr>
          <p:cNvSpPr txBox="1"/>
          <p:nvPr/>
        </p:nvSpPr>
        <p:spPr>
          <a:xfrm>
            <a:off x="1207805" y="528492"/>
            <a:ext cx="53511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METHODOLOGY TO APPLY AI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CCD245-1167-C9F2-F5E2-AD9D8307B7CF}"/>
              </a:ext>
            </a:extLst>
          </p:cNvPr>
          <p:cNvSpPr txBox="1"/>
          <p:nvPr/>
        </p:nvSpPr>
        <p:spPr>
          <a:xfrm>
            <a:off x="3959802" y="6362073"/>
            <a:ext cx="392767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http://rpsonline.com.sg/proceedings/9789811127243/pdf/0188.pdf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A7ECA5-B8F9-5A49-7589-03FE59E77886}"/>
              </a:ext>
            </a:extLst>
          </p:cNvPr>
          <p:cNvSpPr txBox="1"/>
          <p:nvPr/>
        </p:nvSpPr>
        <p:spPr>
          <a:xfrm>
            <a:off x="984738" y="626471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451081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67A029-4F57-FCCC-FB16-79BFB1CF9C43}"/>
              </a:ext>
            </a:extLst>
          </p:cNvPr>
          <p:cNvSpPr txBox="1"/>
          <p:nvPr/>
        </p:nvSpPr>
        <p:spPr>
          <a:xfrm>
            <a:off x="1060175" y="285513"/>
            <a:ext cx="2664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6B4212-D985-B9D7-4EFA-CF6F6AF3BBB7}"/>
              </a:ext>
            </a:extLst>
          </p:cNvPr>
          <p:cNvSpPr txBox="1"/>
          <p:nvPr/>
        </p:nvSpPr>
        <p:spPr>
          <a:xfrm>
            <a:off x="1060175" y="730552"/>
            <a:ext cx="39820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GANTT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3F08F-AA84-43FD-5FA8-BC294E7B60F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 l="2969" r="2390"/>
          <a:stretch/>
        </p:blipFill>
        <p:spPr>
          <a:xfrm>
            <a:off x="1060175" y="1749742"/>
            <a:ext cx="9152970" cy="4209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D08E8A-27F5-7EB2-A888-2CDD6B2C1A75}"/>
              </a:ext>
            </a:extLst>
          </p:cNvPr>
          <p:cNvSpPr txBox="1"/>
          <p:nvPr/>
        </p:nvSpPr>
        <p:spPr>
          <a:xfrm>
            <a:off x="844062" y="63773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9290769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67A029-4F57-FCCC-FB16-79BFB1CF9C43}"/>
              </a:ext>
            </a:extLst>
          </p:cNvPr>
          <p:cNvSpPr txBox="1"/>
          <p:nvPr/>
        </p:nvSpPr>
        <p:spPr>
          <a:xfrm>
            <a:off x="1060175" y="285513"/>
            <a:ext cx="26452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Barlow" panose="00000500000000000000" pitchFamily="2" charset="0"/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1C5B86-A187-AD14-FFC3-8CCF5526F509}"/>
              </a:ext>
            </a:extLst>
          </p:cNvPr>
          <p:cNvSpPr txBox="1"/>
          <p:nvPr/>
        </p:nvSpPr>
        <p:spPr>
          <a:xfrm>
            <a:off x="1174044" y="1140178"/>
            <a:ext cx="878275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Barlow" panose="00000500000000000000" pitchFamily="2" charset="0"/>
              </a:rPr>
              <a:t>[1 ] </a:t>
            </a:r>
            <a:r>
              <a:rPr lang="en-US" sz="1600" dirty="0">
                <a:latin typeface="Barlow" panose="00000500000000000000" pitchFamily="2" charset="0"/>
                <a:hlinkClick r:id="rId5"/>
              </a:rPr>
              <a:t>https://dl.acm.org/doi/10.1007/s13748-020-00217-z</a:t>
            </a:r>
            <a:endParaRPr lang="en-US" sz="1600" dirty="0">
              <a:latin typeface="Barlow" panose="00000500000000000000" pitchFamily="2" charset="0"/>
            </a:endParaRPr>
          </a:p>
          <a:p>
            <a:r>
              <a:rPr lang="en-US" sz="1600" dirty="0">
                <a:latin typeface="Barlow" panose="00000500000000000000" pitchFamily="2" charset="0"/>
              </a:rPr>
              <a:t>[2] </a:t>
            </a:r>
            <a:r>
              <a:rPr lang="en-US" sz="1600" dirty="0">
                <a:latin typeface="Barlow" panose="00000500000000000000" pitchFamily="2" charset="0"/>
                <a:hlinkClick r:id="rId6"/>
              </a:rPr>
              <a:t>https://www.sciencedirect.com/science/article/pii/S235197892031893X</a:t>
            </a:r>
            <a:endParaRPr lang="en-US" sz="1600" dirty="0">
              <a:latin typeface="Barlow" panose="00000500000000000000" pitchFamily="2" charset="0"/>
            </a:endParaRPr>
          </a:p>
          <a:p>
            <a:r>
              <a:rPr lang="en-US" sz="1600" dirty="0">
                <a:latin typeface="Barlow" panose="00000500000000000000" pitchFamily="2" charset="0"/>
              </a:rPr>
              <a:t>[3] </a:t>
            </a:r>
            <a:r>
              <a:rPr lang="en-US" sz="1600" dirty="0">
                <a:latin typeface="Barlow" panose="00000500000000000000" pitchFamily="2" charset="0"/>
                <a:hlinkClick r:id="rId7"/>
              </a:rPr>
              <a:t>https://ieeexplore.ieee.org/abstract/document/9182516</a:t>
            </a:r>
            <a:endParaRPr lang="en-US" sz="1600" dirty="0">
              <a:latin typeface="Barlow" panose="00000500000000000000" pitchFamily="2" charset="0"/>
            </a:endParaRPr>
          </a:p>
          <a:p>
            <a:r>
              <a:rPr lang="en-US" sz="1600" dirty="0">
                <a:latin typeface="Barlow" panose="00000500000000000000" pitchFamily="2" charset="0"/>
              </a:rPr>
              <a:t>[4] </a:t>
            </a:r>
            <a:r>
              <a:rPr lang="en-US" sz="1600" dirty="0">
                <a:latin typeface="Barlow" panose="00000500000000000000" pitchFamily="2" charset="0"/>
                <a:hlinkClick r:id="rId8"/>
              </a:rPr>
              <a:t>https://link.springer.com/content/pdf/10.1155/S1110865704310085.pdf</a:t>
            </a:r>
            <a:endParaRPr lang="en-US" sz="1600" dirty="0">
              <a:latin typeface="Barlow" panose="00000500000000000000" pitchFamily="2" charset="0"/>
            </a:endParaRPr>
          </a:p>
          <a:p>
            <a:r>
              <a:rPr lang="en-US" sz="1600" dirty="0">
                <a:latin typeface="Barlow" panose="00000500000000000000" pitchFamily="2" charset="0"/>
              </a:rPr>
              <a:t>[5]</a:t>
            </a:r>
            <a:r>
              <a:rPr lang="en-US" sz="1600" dirty="0"/>
              <a:t> Current-Based Bearing Fault Diagnosis Using Deep Learning Algorithms by  Andre S. </a:t>
            </a:r>
            <a:r>
              <a:rPr lang="en-US" sz="1600" dirty="0" err="1"/>
              <a:t>Barcelos</a:t>
            </a:r>
            <a:r>
              <a:rPr lang="en-US" sz="1600" dirty="0"/>
              <a:t>  Et al.</a:t>
            </a:r>
          </a:p>
          <a:p>
            <a:r>
              <a:rPr lang="en-US" sz="1600" dirty="0">
                <a:latin typeface="Barlow" panose="00000500000000000000" pitchFamily="2" charset="0"/>
              </a:rPr>
              <a:t>[6]</a:t>
            </a:r>
            <a:r>
              <a:rPr lang="en-US" sz="1600" dirty="0"/>
              <a:t> Bearing Fault Diagnosis Using Lightweight and Robust One-Dimensional Convolution Neural Network        </a:t>
            </a:r>
          </a:p>
          <a:p>
            <a:r>
              <a:rPr lang="en-US" sz="1600" dirty="0"/>
              <a:t>       in the Frequency Domain by Mohammed Hakim Et al.</a:t>
            </a:r>
            <a:endParaRPr lang="en-US" sz="1600" dirty="0">
              <a:latin typeface="Barlow" panose="00000500000000000000" pitchFamily="2" charset="0"/>
            </a:endParaRPr>
          </a:p>
          <a:p>
            <a:r>
              <a:rPr lang="en-US" sz="1600" dirty="0">
                <a:latin typeface="Barlow" panose="00000500000000000000" pitchFamily="2" charset="0"/>
              </a:rPr>
              <a:t>[7] </a:t>
            </a:r>
            <a:r>
              <a:rPr lang="en-US" sz="1600" dirty="0"/>
              <a:t>Bearing fault diagnostic using machine learning algorithms by Laith S. </a:t>
            </a:r>
            <a:r>
              <a:rPr lang="en-US" sz="1600" dirty="0" err="1"/>
              <a:t>Sawaqed</a:t>
            </a:r>
            <a:r>
              <a:rPr lang="en-US" sz="1600" dirty="0"/>
              <a:t> Et al.</a:t>
            </a:r>
            <a:endParaRPr lang="en-US" sz="1600" dirty="0">
              <a:latin typeface="Barlow" panose="00000500000000000000" pitchFamily="2" charset="0"/>
            </a:endParaRPr>
          </a:p>
          <a:p>
            <a:r>
              <a:rPr lang="en-US" sz="1600" dirty="0">
                <a:latin typeface="Barlow" panose="00000500000000000000" pitchFamily="2" charset="0"/>
              </a:rPr>
              <a:t>[8] </a:t>
            </a:r>
            <a:r>
              <a:rPr lang="en-US" sz="1600" dirty="0"/>
              <a:t>Gear and bearing fault classification under different load and speed by using </a:t>
            </a:r>
            <a:r>
              <a:rPr lang="en-US" sz="1600" dirty="0" err="1"/>
              <a:t>Poincaré</a:t>
            </a:r>
            <a:r>
              <a:rPr lang="en-US" sz="1600" dirty="0"/>
              <a:t> plot features       </a:t>
            </a:r>
          </a:p>
          <a:p>
            <a:r>
              <a:rPr lang="en-US" sz="1600" dirty="0"/>
              <a:t>       and SVM by Rubén Medina Et al.</a:t>
            </a:r>
            <a:endParaRPr lang="en-US" sz="1600" dirty="0">
              <a:latin typeface="Barlow" panose="00000500000000000000" pitchFamily="2" charset="0"/>
            </a:endParaRPr>
          </a:p>
          <a:p>
            <a:r>
              <a:rPr lang="en-US" sz="1600" dirty="0">
                <a:latin typeface="Barlow" panose="00000500000000000000" pitchFamily="2" charset="0"/>
              </a:rPr>
              <a:t>[9] </a:t>
            </a:r>
            <a:r>
              <a:rPr lang="en-US" sz="1600" dirty="0"/>
              <a:t>An Explainable AI-Based Fault Diagnosis Model for Bearings by Md </a:t>
            </a:r>
            <a:r>
              <a:rPr lang="en-US" sz="1600" dirty="0" err="1"/>
              <a:t>Junayed</a:t>
            </a:r>
            <a:r>
              <a:rPr lang="en-US" sz="1600" dirty="0"/>
              <a:t> Hasan Et al.</a:t>
            </a:r>
            <a:endParaRPr lang="en-US" sz="1600" dirty="0">
              <a:latin typeface="Barlow" panose="00000500000000000000" pitchFamily="2" charset="0"/>
            </a:endParaRPr>
          </a:p>
          <a:p>
            <a:r>
              <a:rPr lang="en-US" sz="1600" dirty="0">
                <a:latin typeface="Barlow" panose="00000500000000000000" pitchFamily="2" charset="0"/>
              </a:rPr>
              <a:t>[10]</a:t>
            </a:r>
            <a:r>
              <a:rPr lang="en-US" sz="1600" dirty="0"/>
              <a:t> Fault diagnosis of ball bearings using machine learning methods by P.K. </a:t>
            </a:r>
            <a:r>
              <a:rPr lang="en-US" sz="1600" dirty="0" err="1"/>
              <a:t>Kankar</a:t>
            </a:r>
            <a:endParaRPr lang="en-US" sz="1600" dirty="0">
              <a:latin typeface="Barlow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15800-E125-1493-78D8-28AB420A3142}"/>
              </a:ext>
            </a:extLst>
          </p:cNvPr>
          <p:cNvSpPr txBox="1"/>
          <p:nvPr/>
        </p:nvSpPr>
        <p:spPr>
          <a:xfrm>
            <a:off x="949569" y="626471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822432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0A50709-22D9-5CA4-6553-5030714673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700" t="22323" r="58783" b="55354"/>
          <a:stretch/>
        </p:blipFill>
        <p:spPr>
          <a:xfrm>
            <a:off x="9083040" y="0"/>
            <a:ext cx="3108960" cy="190044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F45A3F-C084-4AC9-030A-164EDD1FA773}"/>
              </a:ext>
            </a:extLst>
          </p:cNvPr>
          <p:cNvSpPr/>
          <p:nvPr/>
        </p:nvSpPr>
        <p:spPr>
          <a:xfrm>
            <a:off x="0" y="0"/>
            <a:ext cx="64008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892FF53-D0CF-CF6E-A741-78F25871D7D2}"/>
              </a:ext>
            </a:extLst>
          </p:cNvPr>
          <p:cNvSpPr txBox="1"/>
          <p:nvPr/>
        </p:nvSpPr>
        <p:spPr>
          <a:xfrm>
            <a:off x="2113905" y="626471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91" name="Picture 90" descr="Logo&#10;&#10;Description automatically generated">
            <a:extLst>
              <a:ext uri="{FF2B5EF4-FFF2-40B4-BE49-F238E27FC236}">
                <a16:creationId xmlns:a16="http://schemas.microsoft.com/office/drawing/2014/main" id="{C9EED8CD-A92D-C30D-88BC-E11BCCB5A5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8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5571" y="5719671"/>
            <a:ext cx="993159" cy="9931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715800-E125-1493-78D8-28AB420A3142}"/>
              </a:ext>
            </a:extLst>
          </p:cNvPr>
          <p:cNvSpPr txBox="1"/>
          <p:nvPr/>
        </p:nvSpPr>
        <p:spPr>
          <a:xfrm>
            <a:off x="958288" y="626471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89EE8-9A34-0C60-997F-99F803A4867B}"/>
              </a:ext>
            </a:extLst>
          </p:cNvPr>
          <p:cNvSpPr txBox="1"/>
          <p:nvPr/>
        </p:nvSpPr>
        <p:spPr>
          <a:xfrm>
            <a:off x="2810933" y="2585156"/>
            <a:ext cx="592982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b="1" dirty="0">
                <a:latin typeface="Barlow" panose="00000500000000000000" pitchFamily="2" charset="0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9902188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1109</TotalTime>
  <Words>829</Words>
  <Application>Microsoft Office PowerPoint</Application>
  <PresentationFormat>Widescreen</PresentationFormat>
  <Paragraphs>189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Barlow</vt:lpstr>
      <vt:lpstr>Calibri</vt:lpstr>
      <vt:lpstr>Calibri Light</vt:lpstr>
      <vt:lpstr>Wingdings</vt:lpstr>
      <vt:lpstr>Office Theme</vt:lpstr>
      <vt:lpstr>PowerPoint Presentation</vt:lpstr>
      <vt:lpstr>Group Members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..... .....</dc:creator>
  <cp:lastModifiedBy>..... .....</cp:lastModifiedBy>
  <cp:revision>17</cp:revision>
  <dcterms:created xsi:type="dcterms:W3CDTF">2022-09-18T00:21:43Z</dcterms:created>
  <dcterms:modified xsi:type="dcterms:W3CDTF">2022-09-20T11:42:41Z</dcterms:modified>
</cp:coreProperties>
</file>